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8" r:id="rId29"/>
    <p:sldId id="279" r:id="rId30"/>
    <p:sldId id="280" r:id="rId31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kmMalek/IBM-SpaceX-Falcon9-Capstone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6309360" cy="5998464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731520"/>
            <a:ext cx="5623560" cy="10058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46DCCB"/>
                </a:solidFill>
                <a:latin typeface="Aptos"/>
              </a:defRPr>
            </a:pPr>
            <a:r>
              <a:t>IBM DATA SCIENCE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46DCCB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1901952"/>
            <a:ext cx="5641848" cy="23317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800" b="1">
                <a:solidFill>
                  <a:srgbClr val="EAF4FE"/>
                </a:solidFill>
                <a:latin typeface="Aptos"/>
              </a:defRPr>
            </a:pPr>
            <a:r>
              <a:t>SpaceX Falcon 9</a:t>
            </a:r>
          </a:p>
          <a:p>
            <a:pPr algn="l">
              <a:spcAft>
                <a:spcPts val="0"/>
              </a:spcAft>
              <a:defRPr sz="3800" b="1">
                <a:solidFill>
                  <a:srgbClr val="EAF4FE"/>
                </a:solidFill>
                <a:latin typeface="Aptos"/>
              </a:defRPr>
            </a:pPr>
            <a:r>
              <a:t>First-Stage Landing</a:t>
            </a:r>
          </a:p>
          <a:p>
            <a:pPr algn="l">
              <a:spcAft>
                <a:spcPts val="0"/>
              </a:spcAft>
              <a:defRPr sz="3800" b="1">
                <a:solidFill>
                  <a:srgbClr val="EAF4FE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" y="4645152"/>
            <a:ext cx="5394960" cy="6949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9AB1C5"/>
                </a:solidFill>
                <a:latin typeface="Aptos"/>
              </a:defRPr>
            </a:pPr>
            <a:r>
              <a:t>Methods · exploratory analysis · SQL · geospatial insights · machine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5715000"/>
            <a:ext cx="4965192" cy="10972"/>
          </a:xfrm>
          <a:prstGeom prst="rect">
            <a:avLst/>
          </a:prstGeom>
          <a:solidFill>
            <a:srgbClr val="3C6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52160"/>
            <a:ext cx="51206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46DCCB"/>
                </a:solidFill>
                <a:latin typeface="Aptos"/>
              </a:defRPr>
            </a:pPr>
            <a:r>
              <a:t>FINAL REPORT  /  25 OCT 2026</a:t>
            </a:r>
          </a:p>
        </p:txBody>
      </p:sp>
      <p:sp>
        <p:nvSpPr>
          <p:cNvPr id="9" name="Arc 8"/>
          <p:cNvSpPr/>
          <p:nvPr/>
        </p:nvSpPr>
        <p:spPr>
          <a:xfrm>
            <a:off x="7406640" y="822960"/>
            <a:ext cx="4023360" cy="3977639"/>
          </a:xfrm>
          <a:prstGeom prst="arc">
            <a:avLst/>
          </a:prstGeom>
          <a:noFill/>
          <a:ln w="19050">
            <a:solidFill>
              <a:srgbClr val="264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7626096" y="1078992"/>
            <a:ext cx="3822192" cy="3721607"/>
          </a:xfrm>
          <a:prstGeom prst="arc">
            <a:avLst/>
          </a:prstGeom>
          <a:noFill/>
          <a:ln w="19050">
            <a:solidFill>
              <a:srgbClr val="264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7845552" y="1335024"/>
            <a:ext cx="3621024" cy="3465575"/>
          </a:xfrm>
          <a:prstGeom prst="arc">
            <a:avLst/>
          </a:prstGeom>
          <a:noFill/>
          <a:ln w="19050">
            <a:solidFill>
              <a:srgbClr val="264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8065008" y="1591056"/>
            <a:ext cx="3419856" cy="3209544"/>
          </a:xfrm>
          <a:prstGeom prst="arc">
            <a:avLst/>
          </a:prstGeom>
          <a:noFill/>
          <a:ln w="19050">
            <a:solidFill>
              <a:srgbClr val="264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c 12"/>
          <p:cNvSpPr/>
          <p:nvPr/>
        </p:nvSpPr>
        <p:spPr>
          <a:xfrm>
            <a:off x="8284463" y="1847088"/>
            <a:ext cx="3218688" cy="2953511"/>
          </a:xfrm>
          <a:prstGeom prst="arc">
            <a:avLst/>
          </a:prstGeom>
          <a:noFill/>
          <a:ln w="19050">
            <a:solidFill>
              <a:srgbClr val="264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rc 13"/>
          <p:cNvSpPr/>
          <p:nvPr/>
        </p:nvSpPr>
        <p:spPr>
          <a:xfrm>
            <a:off x="8503919" y="2103120"/>
            <a:ext cx="3017520" cy="2697479"/>
          </a:xfrm>
          <a:prstGeom prst="arc">
            <a:avLst/>
          </a:prstGeom>
          <a:noFill/>
          <a:ln w="19050">
            <a:solidFill>
              <a:srgbClr val="264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rc 14"/>
          <p:cNvSpPr/>
          <p:nvPr/>
        </p:nvSpPr>
        <p:spPr>
          <a:xfrm>
            <a:off x="8723376" y="2359152"/>
            <a:ext cx="2816352" cy="2441447"/>
          </a:xfrm>
          <a:prstGeom prst="arc">
            <a:avLst/>
          </a:prstGeom>
          <a:noFill/>
          <a:ln w="19050">
            <a:solidFill>
              <a:srgbClr val="264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81160" y="1920240"/>
            <a:ext cx="603504" cy="2267712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9262872" y="1097280"/>
            <a:ext cx="630936" cy="969264"/>
          </a:xfrm>
          <a:prstGeom prst="triangle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>
            <a:off x="9153144" y="3694176"/>
            <a:ext cx="429768" cy="484632"/>
          </a:xfrm>
          <a:prstGeom prst="rtTriangle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>
            <a:off x="9811512" y="3694176"/>
            <a:ext cx="429768" cy="484632"/>
          </a:xfrm>
          <a:prstGeom prst="rtTriangle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82328" y="4087368"/>
            <a:ext cx="201168" cy="1389888"/>
          </a:xfrm>
          <a:prstGeom prst="round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5824728"/>
            <a:ext cx="402336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AB1C5"/>
                </a:solidFill>
                <a:latin typeface="Aptos"/>
              </a:defRPr>
            </a:pPr>
            <a:r>
              <a:t>HISTORICAL SPACE X LAUNCH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01 / DECISION-READY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Sources: Data Wrangling; Dashboard; Machine Learning notebooks.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9344"/>
            <a:ext cx="3401568" cy="12527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00784"/>
            <a:ext cx="3081528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46DCCB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31720"/>
            <a:ext cx="3081528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Modelling observations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609344"/>
            <a:ext cx="3401568" cy="12527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00784"/>
            <a:ext cx="3081528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6FB8FF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31720"/>
            <a:ext cx="3081528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Successful landings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69464"/>
            <a:ext cx="3081528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AB1C5"/>
                </a:solidFill>
                <a:latin typeface="Aptos"/>
              </a:defRPr>
            </a:pPr>
            <a:r>
              <a:t>66.7% in the 90-flight dataset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9344"/>
            <a:ext cx="3401568" cy="12527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00784"/>
            <a:ext cx="3081528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F9A35A"/>
                </a:solidFill>
                <a:latin typeface="Aptos"/>
              </a:defRPr>
            </a:pPr>
            <a:r>
              <a:t>83.3%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31720"/>
            <a:ext cx="3081528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Held-out test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569464"/>
            <a:ext cx="3081528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AB1C5"/>
                </a:solidFill>
                <a:latin typeface="Aptos"/>
              </a:defRPr>
            </a:pPr>
            <a:r>
              <a:t>15 correct predictions / 18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63824"/>
            <a:ext cx="5394960" cy="202996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163824"/>
            <a:ext cx="45720" cy="2029968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346704"/>
            <a:ext cx="502920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767328"/>
            <a:ext cx="4956048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Landing success varies by launch site, payload range and booster generation in the historical data. KSC LC-39A leads the 56-launch dashboard subset.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3163824"/>
            <a:ext cx="5202936" cy="202996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5352" y="3163824"/>
            <a:ext cx="45720" cy="2029968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346704"/>
            <a:ext cx="4837176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Decision implication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767328"/>
            <a:ext cx="4764024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Four classification algorithms tie at 83.3% test accuracy. Interpretation must include false positives, small sample size and dataset limitations.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650992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650992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5724144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Not a current SpaceX performance assessment: source datasets are course-provided historical snapshots.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02 /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Research question and outcome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Sources: Data Wrangling and Machine Learning notebooks.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652760" cy="914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EAF4FE"/>
                </a:solidFill>
                <a:latin typeface="Aptos"/>
              </a:defRPr>
            </a:pPr>
            <a:r>
              <a:t>Can historical mission and booster characteristics predict whether the Falcon 9 first stage lands successfully?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2971800"/>
            <a:ext cx="5349240" cy="152704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" y="2971800"/>
            <a:ext cx="45720" cy="1527048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154680"/>
            <a:ext cx="4983479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Target label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575304"/>
            <a:ext cx="4910327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Successful first-stage landing / accepted success categories under the IBM data-wrangling lab.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2971800"/>
            <a:ext cx="5239512" cy="152704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2971800"/>
            <a:ext cx="45720" cy="1527048"/>
          </a:xfrm>
          <a:prstGeom prst="rect">
            <a:avLst/>
          </a:prstGeom>
          <a:solidFill>
            <a:srgbClr val="F1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3154680"/>
            <a:ext cx="4873752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Target label 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575304"/>
            <a:ext cx="4800600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Failed landing, no landing attempt, or other outcome categorized as unsuccessful in the exercise.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02352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102352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175504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Important distinction: mission success (payload delivered) and first-stage landing success are different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03 / DATA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Study architecture: four different data 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Sources: Web Scraping, SQL, Data Wrangling, Folium and Dash notebooks.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609344"/>
            <a:ext cx="5321808" cy="153619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28800"/>
            <a:ext cx="1252728" cy="6675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6FB8FF"/>
                </a:solidFill>
                <a:latin typeface="Aptos"/>
              </a:defRPr>
            </a:pPr>
            <a:r>
              <a:t>121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3976" y="1828800"/>
            <a:ext cx="3593592" cy="3931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AF4FE"/>
                </a:solidFill>
                <a:latin typeface="Aptos"/>
              </a:defRPr>
            </a:pPr>
            <a:r>
              <a:t>Scraping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3976" y="2304288"/>
            <a:ext cx="35478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B1C5"/>
                </a:solidFill>
                <a:latin typeface="Aptos"/>
              </a:defRPr>
            </a:pPr>
            <a:r>
              <a:t>Web-derived historical launches · 11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9344"/>
            <a:ext cx="5321808" cy="153619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828800"/>
            <a:ext cx="1252728" cy="6675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46DCCB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828800"/>
            <a:ext cx="3593592" cy="3931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AF4FE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304288"/>
            <a:ext cx="35478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B1C5"/>
                </a:solidFill>
                <a:latin typeface="Aptos"/>
              </a:defRPr>
            </a:pPr>
            <a:r>
              <a:t>Historical launch-table records for SQL tasks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3383280"/>
            <a:ext cx="5321808" cy="153619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602736"/>
            <a:ext cx="1252728" cy="6675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F9A35A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3602736"/>
            <a:ext cx="3593592" cy="3931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AF4FE"/>
                </a:solidFill>
                <a:latin typeface="Aptos"/>
              </a:defRPr>
            </a:pPr>
            <a:r>
              <a:t>ML / 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3976" y="4078224"/>
            <a:ext cx="35478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B1C5"/>
                </a:solidFill>
                <a:latin typeface="Aptos"/>
              </a:defRPr>
            </a:pPr>
            <a:r>
              <a:t>Labelled observations · 18 test cases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83280"/>
            <a:ext cx="5321808" cy="153619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602736"/>
            <a:ext cx="1252728" cy="6675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F17380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602736"/>
            <a:ext cx="3593592" cy="3931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AF4FE"/>
                </a:solidFill>
                <a:latin typeface="Aptos"/>
              </a:defRPr>
            </a:pPr>
            <a:r>
              <a:t>Dash / Folium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078224"/>
            <a:ext cx="3547872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B1C5"/>
                </a:solidFill>
                <a:latin typeface="Aptos"/>
              </a:defRPr>
            </a:pPr>
            <a:r>
              <a:t>Launch-site geographic/dashboard subset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632704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632704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705856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These cohorts have different coverage and naming conventions; their percentages must not be pooled.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04 / COLLECTION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Acquisition: API workflow and web scraping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Sources: API notebook (unexecuted); Web Scraping notebook (executed).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645920"/>
            <a:ext cx="5532120" cy="2139696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645920"/>
            <a:ext cx="45720" cy="2139696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5166359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API collection (not verified)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49424"/>
            <a:ext cx="5093208" cy="1389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Notebook documents the SpaceX REST API workflow (rockets, launchpads, payloads, cores). The uploaded API notebook has no saved executed outputs.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1645920"/>
            <a:ext cx="5120640" cy="2139696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1645920"/>
            <a:ext cx="45720" cy="21396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828800"/>
            <a:ext cx="4754879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Web scraping (verified)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249424"/>
            <a:ext cx="4681727" cy="1389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BeautifulSoup parses the archived Falcon 9/Falcon Heavy launch tables and saves an 11-column CSV. The notebook reports 121 extracted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096512"/>
            <a:ext cx="3346704" cy="12527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87952"/>
            <a:ext cx="3026664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46DCCB"/>
                </a:solidFill>
                <a:latin typeface="Aptos"/>
              </a:defRPr>
            </a:pPr>
            <a:r>
              <a:t>121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18888"/>
            <a:ext cx="302666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Extracted web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4096512"/>
            <a:ext cx="3346704" cy="12527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5" y="4187952"/>
            <a:ext cx="3026664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6FB8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5" y="4818888"/>
            <a:ext cx="302666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Scraped output columns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5" y="4096512"/>
            <a:ext cx="3346704" cy="12527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8744" y="4187952"/>
            <a:ext cx="3026664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F9A35A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4818888"/>
            <a:ext cx="3026664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Executed API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05 /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Data wrangling: define the learning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Data Wrangling(1).ipynb, cells 19–50.</a:t>
            </a:r>
          </a:p>
        </p:txBody>
      </p:sp>
      <p:pic>
        <p:nvPicPr>
          <p:cNvPr id="9" name="Picture 8" descr="class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45920"/>
            <a:ext cx="5486400" cy="4251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45936" y="1655064"/>
            <a:ext cx="5129784" cy="17099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45936" y="1655064"/>
            <a:ext cx="45720" cy="1709928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837944"/>
            <a:ext cx="4764024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Cleaning and labelling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4536" y="2258568"/>
            <a:ext cx="4690872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Missing-value review, landing-outcome mapping, target Class∈{0,1}, and export of dataset_part_2.csv.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5936" y="3529584"/>
            <a:ext cx="5129784" cy="1691640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45936" y="3529584"/>
            <a:ext cx="45720" cy="169164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4536" y="3712463"/>
            <a:ext cx="4764024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Observed missingness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4133087"/>
            <a:ext cx="4690872" cy="9418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LandingPad is missing in 28.89% of records; no missing values are reported for the other listed input variables.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24144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724144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797296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The 66.7% figure is the labelled first-stage landing rate in the 90-record modelling cohort.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06 / SQL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Exploratory analysis with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Complete the EDA with SQL.ipynb, executed query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36776"/>
            <a:ext cx="5266944" cy="14813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73936"/>
            <a:ext cx="4846320" cy="5760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6FB8FF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350008"/>
            <a:ext cx="4818888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EAF4FE"/>
                </a:solidFill>
                <a:latin typeface="Aptos"/>
              </a:defRPr>
            </a:pPr>
            <a:r>
              <a:t>Launch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660904"/>
            <a:ext cx="48006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AB1C5"/>
                </a:solidFill>
                <a:latin typeface="Aptos"/>
              </a:defRPr>
            </a:pPr>
            <a:r>
              <a:t>A separate IBM SQL exercise 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636776"/>
            <a:ext cx="5266944" cy="14813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773936"/>
            <a:ext cx="4846320" cy="5760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46DCCB"/>
                </a:solidFill>
                <a:latin typeface="Aptos"/>
              </a:defRPr>
            </a:pPr>
            <a:r>
              <a:t>45,596 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350008"/>
            <a:ext cx="4818888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EAF4FE"/>
                </a:solidFill>
                <a:latin typeface="Aptos"/>
              </a:defRPr>
            </a:pPr>
            <a:r>
              <a:t>NASA (CRS) payload mass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660904"/>
            <a:ext cx="48006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AB1C5"/>
                </a:solidFill>
                <a:latin typeface="Aptos"/>
              </a:defRPr>
            </a:pPr>
            <a:r>
              <a:t>Total recorded payload mass for this exact customer label.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355848"/>
            <a:ext cx="5266944" cy="14813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93008"/>
            <a:ext cx="4846320" cy="5760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F9A35A"/>
                </a:solidFill>
                <a:latin typeface="Aptos"/>
              </a:defRPr>
            </a:pPr>
            <a:r>
              <a:t>2,928.4 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4069080"/>
            <a:ext cx="4818888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EAF4FE"/>
                </a:solidFill>
                <a:latin typeface="Aptos"/>
              </a:defRPr>
            </a:pPr>
            <a:r>
              <a:t>Falcon 9 v1.1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4379976"/>
            <a:ext cx="48006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AB1C5"/>
                </a:solidFill>
                <a:latin typeface="Aptos"/>
              </a:defRPr>
            </a:pPr>
            <a:r>
              <a:t>Average recorded payload mass in SQL dataset.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3355848"/>
            <a:ext cx="5266944" cy="14813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3493008"/>
            <a:ext cx="4846320" cy="5760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46DCCB"/>
                </a:solidFill>
                <a:latin typeface="Aptos"/>
              </a:defRPr>
            </a:pPr>
            <a:r>
              <a:t>2015-12-22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069080"/>
            <a:ext cx="4818888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EAF4FE"/>
                </a:solidFill>
                <a:latin typeface="Aptos"/>
              </a:defRPr>
            </a:pPr>
            <a:r>
              <a:t>First ground-pad landing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379976"/>
            <a:ext cx="48006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AB1C5"/>
                </a:solidFill>
                <a:latin typeface="Aptos"/>
              </a:defRPr>
            </a:pPr>
            <a:r>
              <a:t>Earliest date of “Success (ground pad)” recorded.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623560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623560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696712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These are values returned by the uploaded notebook queries; the original SQL cohort is not the 90-flight ML cohort.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07 / SQL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Mission outcome is not landing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SQL notebook, query grouping Mission_Outcome (101 records).</a:t>
            </a:r>
          </a:p>
        </p:txBody>
      </p:sp>
      <p:pic>
        <p:nvPicPr>
          <p:cNvPr id="9" name="Picture 8" descr="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7516368" cy="40782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84464" y="1746504"/>
            <a:ext cx="3154680" cy="2971800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84464" y="1746504"/>
            <a:ext cx="45720" cy="29718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3064" y="1929384"/>
            <a:ext cx="278892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Data quality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3064" y="2350008"/>
            <a:ext cx="2715768" cy="22219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The SQL results include “Success” and a separate “Success ” value with a trailing space. Category normalization matters before aggregation.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559552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559552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632704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98 exact “Success” records + 1 with trailing whitespace; 1 unclear payload; 1 in-flight failure.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08 / EDA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Exploratory visual analysis: key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EDA with Visualization Lab, executed plot outputs.</a:t>
            </a:r>
          </a:p>
        </p:txBody>
      </p:sp>
      <p:pic>
        <p:nvPicPr>
          <p:cNvPr id="9" name="Picture 8" descr="eda_yea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73352"/>
            <a:ext cx="5596128" cy="3648456"/>
          </a:xfrm>
          <a:prstGeom prst="rect">
            <a:avLst/>
          </a:prstGeom>
        </p:spPr>
      </p:pic>
      <p:pic>
        <p:nvPicPr>
          <p:cNvPr id="10" name="Picture 9" descr="eda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664208"/>
            <a:ext cx="5074920" cy="3621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376672"/>
            <a:ext cx="5394960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EAF4FE"/>
                </a:solidFill>
                <a:latin typeface="Aptos"/>
              </a:defRPr>
            </a:pPr>
            <a:r>
              <a:t>Yearly first-stage landing rate in the historic 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5376672"/>
            <a:ext cx="4983480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EAF4FE"/>
                </a:solidFill>
                <a:latin typeface="Aptos"/>
              </a:defRPr>
            </a:pPr>
            <a:r>
              <a:t>Landing rate varies across orbit categories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833872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833872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5907024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Descriptive associations only: time trends, orbit and payload patterns do not establish causal effects.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09 / EDA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Launch-site distribution in the modelling sample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Data Wrangling(1).ipynb, LaunchSite.value_counts() (n=90).</a:t>
            </a:r>
          </a:p>
        </p:txBody>
      </p:sp>
      <p:pic>
        <p:nvPicPr>
          <p:cNvPr id="9" name="Picture 8" descr="launch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73352"/>
            <a:ext cx="10835640" cy="4297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5806440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806440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879592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More observations come from Cape Canaveral than other locations; sample imbalance affects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10 / INTERACTIVE 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Folium: geographic context of the launch sites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Folium notebook, launch_sites_df, cells 18–46. Illustration uses coordinates recorded in the notebook.</a:t>
            </a:r>
          </a:p>
        </p:txBody>
      </p:sp>
      <p:pic>
        <p:nvPicPr>
          <p:cNvPr id="9" name="Picture 8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45336"/>
            <a:ext cx="10890504" cy="43982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5705856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705856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779008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MarkerCluster groups overlapping launch records; green/red markers distinguish landing outcomes in the interactive notebook.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11 / GEOSPATIAL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Folium proximity analysis: what was measured?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Folium notebook, cells 54–72.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55064"/>
            <a:ext cx="3401568" cy="12527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46504"/>
            <a:ext cx="3081528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46DCC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77440"/>
            <a:ext cx="3081528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Distinct launch-site IDs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655064"/>
            <a:ext cx="3401568" cy="12527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46504"/>
            <a:ext cx="3081528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6FB8FF"/>
                </a:solidFill>
                <a:latin typeface="Aptos"/>
              </a:defRPr>
            </a:pPr>
            <a:r>
              <a:t>1.01 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77440"/>
            <a:ext cx="3081528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Worked coastline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615184"/>
            <a:ext cx="3081528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AB1C5"/>
                </a:solidFill>
                <a:latin typeface="Aptos"/>
              </a:defRPr>
            </a:pPr>
            <a:r>
              <a:t>Manually chosen map 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55064"/>
            <a:ext cx="3401568" cy="12527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46504"/>
            <a:ext cx="3081528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F9A35A"/>
                </a:solidFill>
                <a:latin typeface="Aptos"/>
              </a:defRPr>
            </a:pPr>
            <a:r>
              <a:t>MousePosition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77440"/>
            <a:ext cx="3081528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Map extension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191256"/>
            <a:ext cx="5376672" cy="203911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" y="3191256"/>
            <a:ext cx="45720" cy="2039112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374136"/>
            <a:ext cx="5010912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794760"/>
            <a:ext cx="4937760" cy="1289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Circle + text labels for each site, marker clustering for launches, a cursor-coordinate plugin, PolyLine overlays, and haversine distances.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191256"/>
            <a:ext cx="5202936" cy="203911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3191256"/>
            <a:ext cx="45720" cy="2039112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374136"/>
            <a:ext cx="4837176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Interpretation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794760"/>
            <a:ext cx="4764024" cy="1289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Coastline/highway points were selected manually as approximate examples. These distances are illustrative, not verified nearest-neighbour distances.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12 / PLOTLY DASH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The interactive dashboard: four completed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Sources: Dash notebook and IBM Dash laboratory PDF, pages 5–10.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1673352"/>
            <a:ext cx="10707624" cy="777240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73352"/>
            <a:ext cx="64008" cy="777240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1837944"/>
            <a:ext cx="1078992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46DCCB"/>
                </a:solidFill>
                <a:latin typeface="Aptos"/>
              </a:defRPr>
            </a:pPr>
            <a:r>
              <a:t>TASK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1837944"/>
            <a:ext cx="895197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EAF4FE"/>
                </a:solidFill>
                <a:latin typeface="Aptos"/>
              </a:defRPr>
            </a:pPr>
            <a:r>
              <a:t>Launch-site dropdown: ALL + four locations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" y="2633472"/>
            <a:ext cx="10707624" cy="777240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2633472"/>
            <a:ext cx="64008" cy="777240"/>
          </a:xfrm>
          <a:prstGeom prst="rect">
            <a:avLst/>
          </a:prstGeom>
          <a:solidFill>
            <a:srgbClr val="6F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798064"/>
            <a:ext cx="1078992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6FB8FF"/>
                </a:solidFill>
                <a:latin typeface="Aptos"/>
              </a:defRPr>
            </a:pPr>
            <a:r>
              <a:t>TASK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2798064"/>
            <a:ext cx="895197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EAF4FE"/>
                </a:solidFill>
                <a:latin typeface="Aptos"/>
              </a:defRPr>
            </a:pPr>
            <a:r>
              <a:t>Pie chart callback: success volume / site outcomes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" y="3593592"/>
            <a:ext cx="10707624" cy="777240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593592"/>
            <a:ext cx="64008" cy="77724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3758184"/>
            <a:ext cx="1078992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9A35A"/>
                </a:solidFill>
                <a:latin typeface="Aptos"/>
              </a:defRPr>
            </a:pPr>
            <a:r>
              <a:t>TASK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3758184"/>
            <a:ext cx="895197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EAF4FE"/>
                </a:solidFill>
                <a:latin typeface="Aptos"/>
              </a:defRPr>
            </a:pPr>
            <a:r>
              <a:t>Payload mass range slider: 0–10,000 kg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" y="4553712"/>
            <a:ext cx="10707624" cy="777240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8" y="4553712"/>
            <a:ext cx="64008" cy="777240"/>
          </a:xfrm>
          <a:prstGeom prst="rect">
            <a:avLst/>
          </a:prstGeom>
          <a:solidFill>
            <a:srgbClr val="F1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4718304"/>
            <a:ext cx="1078992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17380"/>
                </a:solidFill>
                <a:latin typeface="Aptos"/>
              </a:defRPr>
            </a:pPr>
            <a:r>
              <a:t>TASK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6272" y="4718304"/>
            <a:ext cx="895197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EAF4FE"/>
                </a:solidFill>
                <a:latin typeface="Aptos"/>
              </a:defRPr>
            </a:pPr>
            <a:r>
              <a:t>Scatter callback: payload, class and booster 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69864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769864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843016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Verified 25 OCT 2026: notebook server-start output and interactive dashboard visible in Safari at 127.0.0.1:8050.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12A / DASHBOARD VISUAL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Dashboard charts in the executed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Plotly Dash notebook, saved outputs from callbacks for ALL sites and payload range.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627632"/>
            <a:ext cx="10835640" cy="521207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737360"/>
            <a:ext cx="48920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46DCCB"/>
                </a:solidFill>
                <a:latin typeface="Aptos"/>
              </a:defRPr>
            </a:pPr>
            <a:r>
              <a:t>Launch site:  ALL 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1888" y="1737360"/>
            <a:ext cx="5065776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6FB8FF"/>
                </a:solidFill>
                <a:latin typeface="Aptos"/>
              </a:defRPr>
            </a:pPr>
            <a:r>
              <a:t>Payload slider:  0 — 10,000 kg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2322576"/>
            <a:ext cx="5202936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71616" y="2322576"/>
            <a:ext cx="5385816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ash_pi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651760"/>
            <a:ext cx="5020056" cy="2020824"/>
          </a:xfrm>
          <a:prstGeom prst="rect">
            <a:avLst/>
          </a:prstGeom>
        </p:spPr>
      </p:pic>
      <p:pic>
        <p:nvPicPr>
          <p:cNvPr id="15" name="Picture 14" descr="dash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2651760"/>
            <a:ext cx="5175504" cy="20208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5010912"/>
            <a:ext cx="493776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D1F30"/>
                </a:solidFill>
                <a:latin typeface="Aptos"/>
              </a:defRPr>
            </a:pPr>
            <a:r>
              <a:t>Pie chart: successful first-stage landings by 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5010912"/>
            <a:ext cx="507492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D1F30"/>
                </a:solidFill>
                <a:latin typeface="Aptos"/>
              </a:defRPr>
            </a:pPr>
            <a:r>
              <a:t>Scatter: payload, outcome and booster category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42432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742432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815584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These are notebook-generated figures; the following two slides document the live Safari session.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12B / LIVE DASHBOARD · SAFARI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Live dashboard: launch-site success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supplied Safari screenshot at 15:21; notebook 7, executed server-start cell.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1655064"/>
            <a:ext cx="7909560" cy="4553712"/>
          </a:xfrm>
          <a:prstGeom prst="rect">
            <a:avLst/>
          </a:prstGeom>
          <a:solidFill>
            <a:srgbClr val="F8FAFC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ve_dash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1927163"/>
            <a:ext cx="7699248" cy="40095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677656" y="1655064"/>
            <a:ext cx="2834640" cy="4553712"/>
          </a:xfrm>
          <a:prstGeom prst="roundRect">
            <a:avLst/>
          </a:prstGeom>
          <a:solidFill>
            <a:srgbClr val="F2F6FB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78824" y="1874519"/>
            <a:ext cx="24231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3163A5"/>
                </a:solidFill>
                <a:latin typeface="Aptos"/>
              </a:defRPr>
            </a:pPr>
            <a:r>
              <a:t>BROWSER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8824" y="2267712"/>
            <a:ext cx="242316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000" b="1">
                <a:solidFill>
                  <a:srgbClr val="1B3353"/>
                </a:solidFill>
                <a:latin typeface="Aptos"/>
              </a:defRPr>
            </a:pPr>
            <a:r>
              <a:t>Live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8824" y="2871216"/>
            <a:ext cx="2395728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0">
                <a:solidFill>
                  <a:srgbClr val="536681"/>
                </a:solidFill>
                <a:latin typeface="Aptos"/>
              </a:defRPr>
            </a:pPr>
            <a:r>
              <a:t>25 October 2026 · Safari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3575304"/>
            <a:ext cx="24231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B3353"/>
                </a:solidFill>
                <a:latin typeface="Aptos"/>
              </a:defRPr>
            </a:pPr>
            <a:r>
              <a:t>127.0.0.1:8050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3858768"/>
            <a:ext cx="23774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0">
                <a:solidFill>
                  <a:srgbClr val="4D5E76"/>
                </a:solidFill>
                <a:latin typeface="Aptos"/>
              </a:defRPr>
            </a:pPr>
            <a:r>
              <a:t>Local Dash server in notebook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4398264"/>
            <a:ext cx="24231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B3353"/>
                </a:solidFill>
                <a:latin typeface="Aptos"/>
              </a:defRPr>
            </a:pPr>
            <a:r>
              <a:t>ALL 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4681728"/>
            <a:ext cx="23774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0">
                <a:solidFill>
                  <a:srgbClr val="4D5E76"/>
                </a:solidFill>
                <a:latin typeface="Aptos"/>
              </a:defRPr>
            </a:pPr>
            <a:r>
              <a:t>Four launch sites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5650992"/>
            <a:ext cx="24231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5C6E88"/>
                </a:solidFill>
                <a:latin typeface="Aptos"/>
              </a:defRPr>
            </a:pPr>
            <a:r>
              <a:t>KSC LC-39A: 10 successful landings (41.7% of successful landings in dashboard subset).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12C / LIVE DASHBOARD · SAFARI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Live dashboard: payload and landing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supplied Safari screenshot at 15:21; notebook 7, verified Dash callbacks.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1655064"/>
            <a:ext cx="7909560" cy="4553712"/>
          </a:xfrm>
          <a:prstGeom prst="rect">
            <a:avLst/>
          </a:prstGeom>
          <a:solidFill>
            <a:srgbClr val="F8FAFC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ve_dash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1927163"/>
            <a:ext cx="7699248" cy="40095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677656" y="1655064"/>
            <a:ext cx="2834640" cy="4553712"/>
          </a:xfrm>
          <a:prstGeom prst="roundRect">
            <a:avLst/>
          </a:prstGeom>
          <a:solidFill>
            <a:srgbClr val="F2F6FB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78824" y="1874519"/>
            <a:ext cx="24231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3163A5"/>
                </a:solidFill>
                <a:latin typeface="Aptos"/>
              </a:defRPr>
            </a:pPr>
            <a:r>
              <a:t>BROWSER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8824" y="2267712"/>
            <a:ext cx="242316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000" b="1">
                <a:solidFill>
                  <a:srgbClr val="1B3353"/>
                </a:solidFill>
                <a:latin typeface="Aptos"/>
              </a:defRPr>
            </a:pPr>
            <a:r>
              <a:t>Interactive filters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8824" y="2871216"/>
            <a:ext cx="2395728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0">
                <a:solidFill>
                  <a:srgbClr val="536681"/>
                </a:solidFill>
                <a:latin typeface="Aptos"/>
              </a:defRPr>
            </a:pPr>
            <a:r>
              <a:t>25 October 2026 · Safari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3575304"/>
            <a:ext cx="24231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B3353"/>
                </a:solidFill>
                <a:latin typeface="Aptos"/>
              </a:defRPr>
            </a:pPr>
            <a:r>
              <a:t>0–10,000 kg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3858768"/>
            <a:ext cx="23774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0">
                <a:solidFill>
                  <a:srgbClr val="4D5E76"/>
                </a:solidFill>
                <a:latin typeface="Aptos"/>
              </a:defRPr>
            </a:pPr>
            <a:r>
              <a:t>Interactive payload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4398264"/>
            <a:ext cx="24231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B3353"/>
                </a:solidFill>
                <a:latin typeface="Aptos"/>
              </a:defRPr>
            </a:pPr>
            <a:r>
              <a:t>Class 0 /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4681728"/>
            <a:ext cx="23774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0">
                <a:solidFill>
                  <a:srgbClr val="4D5E76"/>
                </a:solidFill>
                <a:latin typeface="Aptos"/>
              </a:defRPr>
            </a:pPr>
            <a:r>
              <a:t>Outcome by payload and booster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5650992"/>
            <a:ext cx="24231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5C6E88"/>
                </a:solidFill>
                <a:latin typeface="Aptos"/>
              </a:defRPr>
            </a:pPr>
            <a:r>
              <a:t>Visible booster categories: v1.0, v1.1, FT, B4 and B5. Values are historical.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13 / DASHBOARD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Which launch site performs best?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Dashboard notebook, site_stats output (n=56).</a:t>
            </a:r>
          </a:p>
        </p:txBody>
      </p:sp>
      <p:pic>
        <p:nvPicPr>
          <p:cNvPr id="9" name="Picture 8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82496"/>
            <a:ext cx="10817352" cy="4297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5824728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824728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897880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KSC LC-39A: 10 successful first-stage landings out of 13 (76.92%) — most successes and highest site rate.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14 / DASHBOARD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Does payload mass correlate with landing success?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Dashboard notebook, payload_stats output (1,000 kg bins, n=56).</a:t>
            </a:r>
          </a:p>
        </p:txBody>
      </p:sp>
      <p:pic>
        <p:nvPicPr>
          <p:cNvPr id="9" name="Picture 8" descr="pay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4208"/>
            <a:ext cx="10780776" cy="4297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5797296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797296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870448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Highest observed: 3,000–4,000 kg (8/11 = 72.73%); lowest: 6,000–7,000 kg (0/4 = 0%).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15 / DASHBOARD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Booster generations: rates need sample sizes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Dashboard notebook, booster_stats output (n=56).</a:t>
            </a:r>
          </a:p>
        </p:txBody>
      </p:sp>
      <p:pic>
        <p:nvPicPr>
          <p:cNvPr id="9" name="Picture 8" descr="bo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09928"/>
            <a:ext cx="7909560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13648" y="1764792"/>
            <a:ext cx="2862072" cy="176479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1764792"/>
            <a:ext cx="45720" cy="1764792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1947672"/>
            <a:ext cx="2496312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Top raw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368296"/>
            <a:ext cx="2423160" cy="101498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B5 shows 100%, but only one launch in this dataset (1/1). This is not evidence of a stable 100% population 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13648" y="3675887"/>
            <a:ext cx="2862072" cy="176479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13648" y="3675887"/>
            <a:ext cx="45720" cy="1764792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2248" y="3858768"/>
            <a:ext cx="2496312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More informative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4279392"/>
            <a:ext cx="2423160" cy="101498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FT records 16 successful landings in 24 launches (66.67%) — a materially larger sample.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16 / MODELLING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Predictive workflow and model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Machine Learning Prediction notebook, cells 19–79.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18488"/>
            <a:ext cx="5257800" cy="1517904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18488"/>
            <a:ext cx="45720" cy="1517904"/>
          </a:xfrm>
          <a:prstGeom prst="rect">
            <a:avLst/>
          </a:prstGeom>
          <a:solidFill>
            <a:srgbClr val="6F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489204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01 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21992"/>
            <a:ext cx="4818888" cy="7680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83 columns in the exported modelling feature table. Numeric and one-hot encoded inputs.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18488"/>
            <a:ext cx="5257800" cy="1517904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18488"/>
            <a:ext cx="45720" cy="1517904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01368"/>
            <a:ext cx="489204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02 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21992"/>
            <a:ext cx="4818888" cy="7680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Train/test split: 80/20 with random_state=2. Test holdout: 18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83280"/>
            <a:ext cx="5257800" cy="1517904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45720" cy="1517904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66160"/>
            <a:ext cx="489204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03 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986784"/>
            <a:ext cx="4818888" cy="7680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10-fold GridSearchCV for Logistic Regression, SVM, Decision Tree and KNN.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383280"/>
            <a:ext cx="5257800" cy="1517904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383280"/>
            <a:ext cx="45720" cy="1517904"/>
          </a:xfrm>
          <a:prstGeom prst="rect">
            <a:avLst/>
          </a:prstGeom>
          <a:solidFill>
            <a:srgbClr val="F1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566160"/>
            <a:ext cx="489204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04  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86784"/>
            <a:ext cx="4818888" cy="7680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Compare cross-validation scores with the held-out test accuracy and confusion matrix.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632704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632704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705856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Methodological caution: the uploaded notebook fits StandardScaler before splitting; a pipeline would reduce leakage risk.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17 / PREDICTIVE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All four models tie on the independent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Machine Learning Prediction notebook, recorded cross-validation and held-out scores.</a:t>
            </a:r>
          </a:p>
        </p:txBody>
      </p:sp>
      <p:pic>
        <p:nvPicPr>
          <p:cNvPr id="9" name="Picture 8" descr="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55064"/>
            <a:ext cx="10881360" cy="43251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5824728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824728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897880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15/18 correct for each model, equivalent to 83.33% test accuracy. CV leader: Decision Tree (87.68%).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18 / 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What the confusion matrices reveal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Source: Machine Learning Prediction notebook, confusion-matrix images (all four models).</a:t>
            </a:r>
          </a:p>
        </p:txBody>
      </p:sp>
      <p:pic>
        <p:nvPicPr>
          <p:cNvPr id="9" name="Picture 8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755648"/>
            <a:ext cx="6647688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0375" y="1792224"/>
            <a:ext cx="3867912" cy="1645920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0375" y="1792224"/>
            <a:ext cx="45720" cy="1645920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8975" y="1975104"/>
            <a:ext cx="3502152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Predictions across 18 test flights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8975" y="2395728"/>
            <a:ext cx="3429000" cy="8961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True positives: 12  |  True negatives: 3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False positives: 3  |  False negatives: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0375" y="3621024"/>
            <a:ext cx="3867912" cy="170992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0375" y="3621024"/>
            <a:ext cx="45720" cy="1709928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08975" y="3803904"/>
            <a:ext cx="3502152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How to interpret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5" y="4224528"/>
            <a:ext cx="342900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Accuracy is 83.33%, but the model incorrectly predicts landing in 3 of the 6 actual unsuccessful cases; specificity is 50%.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69864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769864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843016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All four saved confusion-matrix plots show the same test classification counts.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19 / FINAL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Conclusion: evidence, limits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Synthesis of submitted IBM SpaceX notebooks; historical datasets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64208"/>
            <a:ext cx="5312664" cy="166420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64208"/>
            <a:ext cx="45720" cy="1664208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47088"/>
            <a:ext cx="4946903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67712"/>
            <a:ext cx="4873752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Historical landing results differ substantially by site and booster family. KSC LC-39A leads the dashboard subset.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664208"/>
            <a:ext cx="5276088" cy="1664208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1664208"/>
            <a:ext cx="45720" cy="1664208"/>
          </a:xfrm>
          <a:prstGeom prst="rect">
            <a:avLst/>
          </a:prstGeom>
          <a:solidFill>
            <a:srgbClr val="6F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847088"/>
            <a:ext cx="4910327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Predictive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267712"/>
            <a:ext cx="4837175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Four algorithm families reach 83.33% on 18 holdout flights, with three false-positive landing calls each.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29584"/>
            <a:ext cx="5312664" cy="1645920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529584"/>
            <a:ext cx="45720" cy="164592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12463"/>
            <a:ext cx="4946903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33087"/>
            <a:ext cx="4873752" cy="8961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Small and inconsistent cohorts; B5 has only one observation in Dash; scaling precedes split in the ML notebook.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529584"/>
            <a:ext cx="5276088" cy="1645920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529584"/>
            <a:ext cx="45720" cy="1645920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3712463"/>
            <a:ext cx="4910327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Recommended improvements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4133087"/>
            <a:ext cx="4837175" cy="8961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Rebuild reproducible joined datasets, fit preprocessing within CV pipelines, test on newer out-of-time launches and report uncertainty.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51576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751576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824728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Takeaway: a credible historical case study, not a production-grade predictive system.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20 /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Submission checklist and source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Capstone rubric: PDF deck + GitHub repository with completed notebooks/Python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609344"/>
            <a:ext cx="5285232" cy="1783080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609344"/>
            <a:ext cx="45720" cy="1783080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792224"/>
            <a:ext cx="4919472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Final presentation (PDF + 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12848"/>
            <a:ext cx="4846320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This deck contains the business question, data lineage, acquisition, cleaning, SQL, EDA, Folium, Dash, classification and conclusions.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09344"/>
            <a:ext cx="5285232" cy="1783080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609344"/>
            <a:ext cx="45720" cy="178308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792224"/>
            <a:ext cx="4919472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Project materials published on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212848"/>
            <a:ext cx="4846320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B1C5"/>
                </a:solidFill>
                <a:latin typeface="Aptos"/>
              </a:defRPr>
            </a:pPr>
            <a:r>
              <a:t>The public repository contains eight course notebooks, a Python Dash app, results, evidence screenshots, and the final PDF and PowerPoint presentations.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3739896"/>
            <a:ext cx="10744200" cy="1636776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950208"/>
            <a:ext cx="402336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AF4FE"/>
                </a:solidFill>
                <a:latin typeface="Aptos"/>
              </a:defRPr>
            </a:pPr>
            <a:r>
              <a:t>GitHub repository URL</a:t>
            </a:r>
          </a:p>
        </p:txBody>
      </p:sp>
      <p:sp>
        <p:nvSpPr>
          <p:cNvPr id="19" name="TextBox 18">
            <a:hlinkClick r:id="rId2"/>
          </p:cNvPr>
          <p:cNvSpPr txBox="1"/>
          <p:nvPr/>
        </p:nvSpPr>
        <p:spPr>
          <a:xfrm>
            <a:off x="950976" y="4407408"/>
            <a:ext cx="992124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F9A35A"/>
                </a:solidFill>
                <a:latin typeface="Aptos"/>
              </a:defRPr>
            </a:pPr>
            <a:r>
              <a:rPr u="none">
                <a:solidFill>
                  <a:srgbClr val="F9A35A"/>
                </a:solidFill>
              </a:rPr>
              <a:t>https://github.com/AkmMalek/IBM-SpaceX-Falcon9-Capstone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42432"/>
            <a:ext cx="10881360" cy="457200"/>
          </a:xfrm>
          <a:prstGeom prst="roundRect">
            <a:avLst/>
          </a:prstGeom>
          <a:solidFill>
            <a:srgbClr val="14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742432"/>
            <a:ext cx="50292" cy="457200"/>
          </a:xfrm>
          <a:prstGeom prst="rect">
            <a:avLst/>
          </a:prstGeom>
          <a:solidFill>
            <a:srgbClr val="F9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5815584"/>
            <a:ext cx="1056132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AF4FE"/>
                </a:solidFill>
                <a:latin typeface="Aptos"/>
              </a:defRPr>
            </a:pPr>
            <a:r>
              <a:t>Live Dash runtime confirmed by saved notebook output and Safari screenshots. API execution remains unverified.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6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46DCCB"/>
                </a:solidFill>
                <a:latin typeface="Aptos"/>
              </a:defRPr>
            </a:pPr>
            <a:r>
              <a:t>APPENDIX / EVIDENCE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97280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EAF4FE"/>
                </a:solidFill>
                <a:latin typeface="Aptos"/>
              </a:defRPr>
            </a:pPr>
            <a:r>
              <a:t>Technical appendix: provenance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11109960" cy="10972"/>
          </a:xfrm>
          <a:prstGeom prst="rect">
            <a:avLst/>
          </a:prstGeom>
          <a:solidFill>
            <a:srgbClr val="254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64008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IBM DATA SCIENCE CAPSTONE  /  SPACEX FALCON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6DCCB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300216"/>
            <a:ext cx="105156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AB1C5"/>
                </a:solidFill>
                <a:latin typeface="Aptos"/>
              </a:defRPr>
            </a:pPr>
            <a:r>
              <a:t>Evidence: executed notebooks, screenshots of Dash running locally, and reproduced figures.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636776"/>
            <a:ext cx="10689336" cy="48463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2304288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6DCCB"/>
                </a:solidFill>
                <a:latin typeface="Aptos"/>
              </a:defRPr>
            </a:pPr>
            <a:r>
              <a:t>Web scraping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1709928"/>
            <a:ext cx="194767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121 ×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709928"/>
            <a:ext cx="5632704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AB1C5"/>
                </a:solidFill>
                <a:latin typeface="Aptos"/>
              </a:defRPr>
            </a:pPr>
            <a:r>
              <a:t>BeautifulSoup / historical launch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2217420"/>
            <a:ext cx="10689336" cy="48463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290572"/>
            <a:ext cx="2304288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6DCCB"/>
                </a:solidFill>
                <a:latin typeface="Aptos"/>
              </a:defRPr>
            </a:pPr>
            <a:r>
              <a:t>Data Wrangling + 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2290572"/>
            <a:ext cx="194767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90 observations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290572"/>
            <a:ext cx="5632704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AB1C5"/>
                </a:solidFill>
                <a:latin typeface="Aptos"/>
              </a:defRPr>
            </a:pPr>
            <a:r>
              <a:t>Outcome-to-Class mapping · one-hot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2798064"/>
            <a:ext cx="10689336" cy="48463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2871216"/>
            <a:ext cx="2304288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6DCCB"/>
                </a:solidFill>
                <a:latin typeface="Aptos"/>
              </a:defRPr>
            </a:pPr>
            <a:r>
              <a:t>SQL 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2424" y="2871216"/>
            <a:ext cx="194767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101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871216"/>
            <a:ext cx="5632704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AB1C5"/>
                </a:solidFill>
                <a:latin typeface="Aptos"/>
              </a:defRPr>
            </a:pPr>
            <a:r>
              <a:t>SQLite + SELECT / GROUP BY / filtering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" y="3378708"/>
            <a:ext cx="10689336" cy="48463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451860"/>
            <a:ext cx="2304288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6DCCB"/>
                </a:solidFill>
                <a:latin typeface="Aptos"/>
              </a:defRPr>
            </a:pPr>
            <a:r>
              <a:t>Folium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2424" y="3451860"/>
            <a:ext cx="194767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4 sites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451860"/>
            <a:ext cx="5632704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AB1C5"/>
                </a:solidFill>
                <a:latin typeface="Aptos"/>
              </a:defRPr>
            </a:pPr>
            <a:r>
              <a:t>Maps / clusters / coordinates / illustrative distance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3959352"/>
            <a:ext cx="10689336" cy="48463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4032504"/>
            <a:ext cx="2304288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6DCCB"/>
                </a:solidFill>
                <a:latin typeface="Aptos"/>
              </a:defRPr>
            </a:pPr>
            <a:r>
              <a:t>Plotly Dash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2424" y="4032504"/>
            <a:ext cx="194767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56 observations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4032504"/>
            <a:ext cx="5632704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AB1C5"/>
                </a:solidFill>
                <a:latin typeface="Aptos"/>
              </a:defRPr>
            </a:pPr>
            <a:r>
              <a:t>Dropdown + two callbacks; live Safari session confirmed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" y="4539996"/>
            <a:ext cx="10689336" cy="48463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4613148"/>
            <a:ext cx="2304288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6DCCB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2424" y="4613148"/>
            <a:ext cx="194767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90 total / 18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4613148"/>
            <a:ext cx="5632704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AB1C5"/>
                </a:solidFill>
                <a:latin typeface="Aptos"/>
              </a:defRPr>
            </a:pPr>
            <a:r>
              <a:t>10-fold CV and test confusion matrices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" y="5120640"/>
            <a:ext cx="10689336" cy="484632"/>
          </a:xfrm>
          <a:prstGeom prst="round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" y="5193792"/>
            <a:ext cx="2304288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6DCCB"/>
                </a:solidFill>
                <a:latin typeface="Aptos"/>
              </a:defRPr>
            </a:pPr>
            <a:r>
              <a:t>API notebook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92424" y="5193792"/>
            <a:ext cx="194767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AF4FE"/>
                </a:solidFill>
                <a:latin typeface="Aptos"/>
              </a:defRPr>
            </a:pPr>
            <a:r>
              <a:t>unexecuted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5193792"/>
            <a:ext cx="5632704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9AB1C5"/>
                </a:solidFill>
                <a:latin typeface="Aptos"/>
              </a:defRPr>
            </a:pPr>
            <a:r>
              <a:t>API functions present; results not verified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